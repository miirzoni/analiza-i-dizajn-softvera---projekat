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0.jpg" ContentType="image/jpeg"/>
  <Override PartName="/ppt/media/image12.jpg" ContentType="image/jpeg"/>
  <Override PartName="/ppt/media/image13.jpg" ContentType="image/jpeg"/>
  <Override PartName="/ppt/media/image14.jpg" ContentType="image/jpeg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33"/>
  </p:notesMasterIdLst>
  <p:sldIdLst>
    <p:sldId id="256" r:id="rId2"/>
    <p:sldId id="260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273" r:id="rId32"/>
  </p:sldIdLst>
  <p:sldSz cx="9144000" cy="5143500" type="screen16x9"/>
  <p:notesSz cx="6858000" cy="9144000"/>
  <p:embeddedFontLst>
    <p:embeddedFont>
      <p:font typeface="Montserrat" panose="00000500000000000000" pitchFamily="2" charset="-18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5B7ADE-E77E-4BC0-B7FF-9528A268D504}">
  <a:tblStyle styleId="{4D5B7ADE-E77E-4BC0-B7FF-9528A268D5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530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a9fa940987_1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a9fa940987_1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 idx="2" hasCustomPrompt="1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6" name="Google Shape;46;p9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7" r:id="rId5"/>
    <p:sldLayoutId id="2147483658" r:id="rId6"/>
    <p:sldLayoutId id="2147483666" r:id="rId7"/>
    <p:sldLayoutId id="214748367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736007" y="929686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>
                <a:solidFill>
                  <a:schemeClr val="accent1"/>
                </a:solidFill>
              </a:rPr>
              <a:t>BARBERSHOP POLITEHNIKA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736007" y="2950966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Mobilna aplikacija za rezervaciju termina u barber shop-u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B5A877-D0E0-9DFE-D5A6-2C177890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3795" y="149564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1CDB75-D72D-9EAA-ED37-3892C61C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1A32B4-4A64-FE30-622F-74383626A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DC4B3-ACE1-BCC5-27F8-543F63FB8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0EDAC1-5474-C19B-5BBA-18CC9AC23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137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FBE5E-CE1F-4A91-89E7-F14693997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s-Latn-BA"/>
          </a:p>
        </p:txBody>
      </p:sp>
      <p:sp>
        <p:nvSpPr>
          <p:cNvPr id="8" name="Google Shape;186;p30">
            <a:extLst>
              <a:ext uri="{FF2B5EF4-FFF2-40B4-BE49-F238E27FC236}">
                <a16:creationId xmlns:a16="http://schemas.microsoft.com/office/drawing/2014/main" id="{9CE4285A-079C-C66C-B259-377B783B0A06}"/>
              </a:ext>
            </a:extLst>
          </p:cNvPr>
          <p:cNvSpPr txBox="1">
            <a:spLocks/>
          </p:cNvSpPr>
          <p:nvPr/>
        </p:nvSpPr>
        <p:spPr>
          <a:xfrm>
            <a:off x="3588161" y="-11626"/>
            <a:ext cx="2577278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pl-PL" sz="1400"/>
              <a:t>Analiza i dizajn softvera</a:t>
            </a:r>
          </a:p>
        </p:txBody>
      </p:sp>
      <p:sp>
        <p:nvSpPr>
          <p:cNvPr id="9" name="Google Shape;186;p30">
            <a:extLst>
              <a:ext uri="{FF2B5EF4-FFF2-40B4-BE49-F238E27FC236}">
                <a16:creationId xmlns:a16="http://schemas.microsoft.com/office/drawing/2014/main" id="{A126C275-C6E7-DD29-2A6F-BC246FEF6313}"/>
              </a:ext>
            </a:extLst>
          </p:cNvPr>
          <p:cNvSpPr txBox="1">
            <a:spLocks/>
          </p:cNvSpPr>
          <p:nvPr/>
        </p:nvSpPr>
        <p:spPr>
          <a:xfrm>
            <a:off x="-255181" y="4586400"/>
            <a:ext cx="3080552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pl-PL" sz="1400"/>
              <a:t>Mentor: doc.dr. Mujo Hodžić</a:t>
            </a:r>
          </a:p>
        </p:txBody>
      </p:sp>
      <p:sp>
        <p:nvSpPr>
          <p:cNvPr id="10" name="Google Shape;186;p30">
            <a:extLst>
              <a:ext uri="{FF2B5EF4-FFF2-40B4-BE49-F238E27FC236}">
                <a16:creationId xmlns:a16="http://schemas.microsoft.com/office/drawing/2014/main" id="{7D7C8FE2-7F56-F469-1EA0-4F6482DC7AE3}"/>
              </a:ext>
            </a:extLst>
          </p:cNvPr>
          <p:cNvSpPr txBox="1">
            <a:spLocks/>
          </p:cNvSpPr>
          <p:nvPr/>
        </p:nvSpPr>
        <p:spPr>
          <a:xfrm>
            <a:off x="5847253" y="4307849"/>
            <a:ext cx="3232952" cy="55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pl-PL" sz="1400"/>
              <a:t>Berbić Amar, Subašić Alija  Haračić Mirza, Zelkanović Samed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3968350" y="2857781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Funkcionalni zahtjevi</a:t>
            </a:r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title" idx="2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91CA3B2-0B0F-4FA6-5429-D73368B2B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867" y="816781"/>
            <a:ext cx="2261700" cy="600894"/>
          </a:xfrm>
        </p:spPr>
        <p:txBody>
          <a:bodyPr/>
          <a:lstStyle/>
          <a:p>
            <a:r>
              <a:rPr lang="en-US"/>
              <a:t>1. </a:t>
            </a:r>
            <a:r>
              <a:rPr lang="en-US" b="1"/>
              <a:t>Registracija korisnika</a:t>
            </a:r>
            <a:endParaRPr lang="bs-Latn-BA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DD5C167-8845-14A2-F0F8-2C3305F9E8E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509029" y="816781"/>
            <a:ext cx="2261700" cy="685954"/>
          </a:xfrm>
        </p:spPr>
        <p:txBody>
          <a:bodyPr/>
          <a:lstStyle/>
          <a:p>
            <a:pPr algn="ctr"/>
            <a:r>
              <a:rPr lang="en-US"/>
              <a:t>2. </a:t>
            </a:r>
            <a:r>
              <a:rPr lang="en-US" b="1"/>
              <a:t>Prijava korisnika</a:t>
            </a:r>
            <a:endParaRPr lang="bs-Latn-BA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1E54C0F-3293-1BB1-DD78-AA65603BDA82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59217" y="2208626"/>
            <a:ext cx="2261700" cy="408600"/>
          </a:xfrm>
        </p:spPr>
        <p:txBody>
          <a:bodyPr/>
          <a:lstStyle/>
          <a:p>
            <a:r>
              <a:rPr lang="hr-HR"/>
              <a:t>4</a:t>
            </a:r>
            <a:r>
              <a:rPr lang="hr-HR" b="1"/>
              <a:t>. </a:t>
            </a:r>
            <a:r>
              <a:rPr lang="en-US" b="1"/>
              <a:t>Prikaz </a:t>
            </a:r>
            <a:r>
              <a:rPr lang="hr-HR" b="1"/>
              <a:t>svih </a:t>
            </a:r>
            <a:r>
              <a:rPr lang="en-US" b="1"/>
              <a:t>frizera</a:t>
            </a:r>
            <a:endParaRPr lang="bs-Latn-BA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9B4513B9-6632-2E70-A726-26C36116B2B2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266106" y="816781"/>
            <a:ext cx="2261700" cy="408600"/>
          </a:xfrm>
        </p:spPr>
        <p:txBody>
          <a:bodyPr/>
          <a:lstStyle/>
          <a:p>
            <a:r>
              <a:rPr lang="hr-HR"/>
              <a:t>3</a:t>
            </a:r>
            <a:r>
              <a:rPr lang="hr-HR" b="1"/>
              <a:t>.  </a:t>
            </a:r>
            <a:r>
              <a:rPr lang="en-US" b="1"/>
              <a:t>Prikaz informacija o salonu</a:t>
            </a:r>
            <a:endParaRPr lang="bs-Latn-BA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9A0F291D-A749-78B3-321E-EABF32BAA2D9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5248085" y="2040998"/>
            <a:ext cx="2261700" cy="1000790"/>
          </a:xfrm>
        </p:spPr>
        <p:txBody>
          <a:bodyPr/>
          <a:lstStyle/>
          <a:p>
            <a:r>
              <a:rPr lang="hr-HR"/>
              <a:t>6</a:t>
            </a:r>
            <a:r>
              <a:rPr lang="en-US"/>
              <a:t>. </a:t>
            </a:r>
            <a:r>
              <a:rPr lang="hr-HR"/>
              <a:t> </a:t>
            </a:r>
            <a:r>
              <a:rPr lang="en-US" b="1"/>
              <a:t>Pregled prethodnih rezervacija</a:t>
            </a:r>
            <a:endParaRPr lang="bs-Latn-BA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0E75BA5-CDC2-068F-5B90-806A53F690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2925881" y="2132793"/>
            <a:ext cx="2261700" cy="408600"/>
          </a:xfrm>
        </p:spPr>
        <p:txBody>
          <a:bodyPr/>
          <a:lstStyle/>
          <a:p>
            <a:r>
              <a:rPr lang="hr-HR"/>
              <a:t>5</a:t>
            </a:r>
            <a:r>
              <a:rPr lang="en-US"/>
              <a:t>. </a:t>
            </a:r>
            <a:r>
              <a:rPr lang="hr-HR"/>
              <a:t> </a:t>
            </a:r>
            <a:r>
              <a:rPr lang="en-US" b="1"/>
              <a:t>Kreiranje rezervacije</a:t>
            </a:r>
            <a:endParaRPr lang="bs-Latn-BA"/>
          </a:p>
        </p:txBody>
      </p:sp>
      <p:sp>
        <p:nvSpPr>
          <p:cNvPr id="18" name="Subtitle 11">
            <a:extLst>
              <a:ext uri="{FF2B5EF4-FFF2-40B4-BE49-F238E27FC236}">
                <a16:creationId xmlns:a16="http://schemas.microsoft.com/office/drawing/2014/main" id="{919C2DE0-278F-9C37-86DA-DED24F396C6F}"/>
              </a:ext>
            </a:extLst>
          </p:cNvPr>
          <p:cNvSpPr txBox="1">
            <a:spLocks/>
          </p:cNvSpPr>
          <p:nvPr/>
        </p:nvSpPr>
        <p:spPr>
          <a:xfrm>
            <a:off x="2847355" y="3383546"/>
            <a:ext cx="2418751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r-HR"/>
              <a:t>8</a:t>
            </a:r>
            <a:r>
              <a:rPr lang="en-US"/>
              <a:t>. </a:t>
            </a:r>
            <a:r>
              <a:rPr lang="hr-HR"/>
              <a:t> </a:t>
            </a:r>
            <a:r>
              <a:rPr lang="en-US" b="1"/>
              <a:t>Pregled profila korisnika</a:t>
            </a:r>
            <a:endParaRPr lang="bs-Latn-BA"/>
          </a:p>
        </p:txBody>
      </p:sp>
      <p:sp>
        <p:nvSpPr>
          <p:cNvPr id="19" name="Subtitle 13">
            <a:extLst>
              <a:ext uri="{FF2B5EF4-FFF2-40B4-BE49-F238E27FC236}">
                <a16:creationId xmlns:a16="http://schemas.microsoft.com/office/drawing/2014/main" id="{9E5B2B6D-D01D-BF9D-58C0-3C40750243B5}"/>
              </a:ext>
            </a:extLst>
          </p:cNvPr>
          <p:cNvSpPr txBox="1">
            <a:spLocks/>
          </p:cNvSpPr>
          <p:nvPr/>
        </p:nvSpPr>
        <p:spPr>
          <a:xfrm>
            <a:off x="163090" y="3291751"/>
            <a:ext cx="2516060" cy="1093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pl-PL"/>
              <a:t>7. </a:t>
            </a:r>
            <a:r>
              <a:rPr lang="pl-PL" b="1"/>
              <a:t>Admin     funkcionalnosti (za frizere)</a:t>
            </a:r>
            <a:endParaRPr lang="bs-Latn-BA"/>
          </a:p>
        </p:txBody>
      </p:sp>
      <p:sp>
        <p:nvSpPr>
          <p:cNvPr id="20" name="Subtitle 15">
            <a:extLst>
              <a:ext uri="{FF2B5EF4-FFF2-40B4-BE49-F238E27FC236}">
                <a16:creationId xmlns:a16="http://schemas.microsoft.com/office/drawing/2014/main" id="{CE26BF5B-4E53-5468-8159-277BFA92BB4D}"/>
              </a:ext>
            </a:extLst>
          </p:cNvPr>
          <p:cNvSpPr txBox="1">
            <a:spLocks/>
          </p:cNvSpPr>
          <p:nvPr/>
        </p:nvSpPr>
        <p:spPr>
          <a:xfrm>
            <a:off x="5334002" y="3371762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hr-HR"/>
              <a:t>9</a:t>
            </a:r>
            <a:r>
              <a:rPr lang="en-US"/>
              <a:t>. </a:t>
            </a:r>
            <a:r>
              <a:rPr lang="hr-HR"/>
              <a:t> Odjava korisnika</a:t>
            </a:r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1467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081BB0-E0DF-2C59-1E40-3C9EBFBAABE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8856" y="1573619"/>
            <a:ext cx="7095460" cy="2934586"/>
          </a:xfrm>
        </p:spPr>
        <p:txBody>
          <a:bodyPr/>
          <a:lstStyle/>
          <a:p>
            <a:pPr algn="just"/>
            <a:r>
              <a:rPr lang="hr-HR"/>
              <a:t>	</a:t>
            </a:r>
            <a:r>
              <a:rPr lang="en-US"/>
              <a:t>Aplikacija sadrži poseban </a:t>
            </a:r>
            <a:r>
              <a:rPr lang="en-US" b="1"/>
              <a:t>admin panel</a:t>
            </a:r>
            <a:r>
              <a:rPr lang="en-US"/>
              <a:t> namijenjen</a:t>
            </a:r>
            <a:r>
              <a:rPr lang="hr-HR"/>
              <a:t> </a:t>
            </a:r>
            <a:r>
              <a:rPr lang="en-US"/>
              <a:t>frizerima. Putem ovog panela frizeri imaju sljedeće mogućnosti:</a:t>
            </a:r>
            <a:endParaRPr lang="hr-HR"/>
          </a:p>
          <a:p>
            <a:pPr algn="just"/>
            <a:endParaRPr lang="hr-HR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/>
              <a:t>Pregled svih rezervacija</a:t>
            </a:r>
            <a:r>
              <a:rPr lang="en-US"/>
              <a:t> koje su korisnici napravili, uključujući podatke o terminu</a:t>
            </a:r>
            <a:r>
              <a:rPr lang="hr-HR"/>
              <a:t> i</a:t>
            </a:r>
            <a:r>
              <a:rPr lang="en-US"/>
              <a:t> imenu korisnika.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/>
              <a:t>Upravljanje rezervacijama</a:t>
            </a:r>
            <a:r>
              <a:rPr lang="en-US"/>
              <a:t>, uključujući opciju </a:t>
            </a:r>
            <a:r>
              <a:rPr lang="en-US" b="1"/>
              <a:t>otkazivanja termina</a:t>
            </a:r>
            <a:r>
              <a:rPr lang="en-US"/>
              <a:t> u slučaju potrebe (npr. nedostupnost frizera, promjena rasporeda).</a:t>
            </a:r>
          </a:p>
          <a:p>
            <a:pPr algn="just"/>
            <a:r>
              <a:rPr lang="hr-HR"/>
              <a:t>	</a:t>
            </a:r>
          </a:p>
          <a:p>
            <a:pPr algn="just"/>
            <a:r>
              <a:rPr lang="hr-HR"/>
              <a:t>	</a:t>
            </a:r>
            <a:r>
              <a:rPr lang="en-US"/>
              <a:t>Ova funkcionalnost omogućava frizerima da efikasno organizuju svoj radni dan i imaju punu kontrolu nad svojim rasporedom.</a:t>
            </a:r>
          </a:p>
          <a:p>
            <a:endParaRPr lang="bs-Latn-BA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9298CDA-781F-C54C-6F68-13C4D729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900" y="411528"/>
            <a:ext cx="7708200" cy="647100"/>
          </a:xfrm>
        </p:spPr>
        <p:txBody>
          <a:bodyPr/>
          <a:lstStyle/>
          <a:p>
            <a:r>
              <a:rPr lang="bs-Latn-BA"/>
              <a:t>Admin funkcionalnosti </a:t>
            </a:r>
          </a:p>
        </p:txBody>
      </p:sp>
    </p:spTree>
    <p:extLst>
      <p:ext uri="{BB962C8B-B14F-4D97-AF65-F5344CB8AC3E}">
        <p14:creationId xmlns:p14="http://schemas.microsoft.com/office/powerpoint/2010/main" val="299892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3430772" y="3025406"/>
            <a:ext cx="502134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Nefunkcionalni zahtjevi</a:t>
            </a:r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title" idx="2"/>
          </p:nvPr>
        </p:nvSpPr>
        <p:spPr>
          <a:xfrm>
            <a:off x="3989615" y="142995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hr-HR"/>
              <a:t>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2053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91CA3B2-0B0F-4FA6-5429-D73368B2B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810" y="1291812"/>
            <a:ext cx="2366663" cy="600894"/>
          </a:xfrm>
        </p:spPr>
        <p:txBody>
          <a:bodyPr/>
          <a:lstStyle/>
          <a:p>
            <a:r>
              <a:rPr lang="en-US" sz="2000"/>
              <a:t>1. </a:t>
            </a:r>
            <a:r>
              <a:rPr lang="hr-HR" sz="2000" b="1"/>
              <a:t>Performanse i dostupnost</a:t>
            </a:r>
            <a:endParaRPr lang="bs-Latn-BA" sz="200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DD5C167-8845-14A2-F0F8-2C3305F9E8E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12661" y="2253465"/>
            <a:ext cx="2277575" cy="685954"/>
          </a:xfrm>
        </p:spPr>
        <p:txBody>
          <a:bodyPr/>
          <a:lstStyle/>
          <a:p>
            <a:pPr algn="ctr"/>
            <a:r>
              <a:rPr lang="hr-HR" sz="2000"/>
              <a:t> </a:t>
            </a:r>
            <a:r>
              <a:rPr lang="en-US" sz="2000"/>
              <a:t>2. </a:t>
            </a:r>
            <a:r>
              <a:rPr lang="hr-HR" sz="2000" b="1"/>
              <a:t>Pouzdanost</a:t>
            </a:r>
            <a:endParaRPr lang="bs-Latn-BA" sz="200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1E54C0F-3293-1BB1-DD78-AA65603BDA82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4208321" y="1387959"/>
            <a:ext cx="2517989" cy="408600"/>
          </a:xfrm>
        </p:spPr>
        <p:txBody>
          <a:bodyPr/>
          <a:lstStyle/>
          <a:p>
            <a:r>
              <a:rPr lang="hr-HR" sz="2000"/>
              <a:t>4</a:t>
            </a:r>
            <a:r>
              <a:rPr lang="hr-HR" sz="2000" b="1"/>
              <a:t>. Sigurnost</a:t>
            </a:r>
            <a:endParaRPr lang="bs-Latn-BA" sz="200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9B4513B9-6632-2E70-A726-26C36116B2B2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704811" y="3127555"/>
            <a:ext cx="2562928" cy="408600"/>
          </a:xfrm>
        </p:spPr>
        <p:txBody>
          <a:bodyPr/>
          <a:lstStyle/>
          <a:p>
            <a:r>
              <a:rPr lang="hr-HR" sz="2000"/>
              <a:t>3</a:t>
            </a:r>
            <a:r>
              <a:rPr lang="hr-HR" sz="2000" b="1"/>
              <a:t>.  Upotrebljivost i održavanje</a:t>
            </a:r>
            <a:endParaRPr lang="bs-Latn-BA" sz="200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9A0F291D-A749-78B3-321E-EABF32BAA2D9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4208321" y="3270779"/>
            <a:ext cx="2334245" cy="530752"/>
          </a:xfrm>
        </p:spPr>
        <p:txBody>
          <a:bodyPr/>
          <a:lstStyle/>
          <a:p>
            <a:r>
              <a:rPr lang="hr-HR" sz="2000"/>
              <a:t>6</a:t>
            </a:r>
            <a:r>
              <a:rPr lang="en-US" sz="2000"/>
              <a:t>. </a:t>
            </a:r>
            <a:r>
              <a:rPr lang="hr-HR" sz="2000"/>
              <a:t> </a:t>
            </a:r>
            <a:r>
              <a:rPr lang="hr-HR" sz="2000" b="1"/>
              <a:t>Skalabilnost</a:t>
            </a:r>
            <a:endParaRPr lang="bs-Latn-BA" sz="200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0E75BA5-CDC2-068F-5B90-806A53F690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208322" y="2187842"/>
            <a:ext cx="2738282" cy="408600"/>
          </a:xfrm>
        </p:spPr>
        <p:txBody>
          <a:bodyPr/>
          <a:lstStyle/>
          <a:p>
            <a:r>
              <a:rPr lang="hr-HR" sz="2000"/>
              <a:t>5</a:t>
            </a:r>
            <a:r>
              <a:rPr lang="en-US" sz="2000"/>
              <a:t>. </a:t>
            </a:r>
            <a:r>
              <a:rPr lang="hr-HR" sz="2000"/>
              <a:t> </a:t>
            </a:r>
            <a:r>
              <a:rPr lang="hr-HR" sz="2000" b="1"/>
              <a:t>Kompatibilnost i lokalizacija</a:t>
            </a:r>
            <a:endParaRPr lang="bs-Latn-BA" sz="2000"/>
          </a:p>
        </p:txBody>
      </p:sp>
    </p:spTree>
    <p:extLst>
      <p:ext uri="{BB962C8B-B14F-4D97-AF65-F5344CB8AC3E}">
        <p14:creationId xmlns:p14="http://schemas.microsoft.com/office/powerpoint/2010/main" val="947155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22;p34">
            <a:extLst>
              <a:ext uri="{FF2B5EF4-FFF2-40B4-BE49-F238E27FC236}">
                <a16:creationId xmlns:a16="http://schemas.microsoft.com/office/drawing/2014/main" id="{F6ABE8C2-3DF6-5A2E-AEE4-BB2DCB4A7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22921" y="2198562"/>
            <a:ext cx="502134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700"/>
              <a:t>Korišteni alati</a:t>
            </a:r>
            <a:endParaRPr sz="4700"/>
          </a:p>
        </p:txBody>
      </p:sp>
      <p:sp>
        <p:nvSpPr>
          <p:cNvPr id="25" name="Google Shape;224;p34">
            <a:extLst>
              <a:ext uri="{FF2B5EF4-FFF2-40B4-BE49-F238E27FC236}">
                <a16:creationId xmlns:a16="http://schemas.microsoft.com/office/drawing/2014/main" id="{502A014C-F160-1F9C-95F7-5A4983FB5435}"/>
              </a:ext>
            </a:extLst>
          </p:cNvPr>
          <p:cNvSpPr txBox="1">
            <a:spLocks/>
          </p:cNvSpPr>
          <p:nvPr/>
        </p:nvSpPr>
        <p:spPr>
          <a:xfrm>
            <a:off x="4081764" y="1056762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7200" b="1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-18"/>
              </a:rPr>
              <a:t>0</a:t>
            </a:r>
            <a:r>
              <a:rPr lang="hr-HR" sz="7200" b="1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-18"/>
              </a:rPr>
              <a:t>3</a:t>
            </a:r>
            <a:endParaRPr lang="en" sz="7200" b="1">
              <a:solidFill>
                <a:schemeClr val="accent3">
                  <a:lumMod val="75000"/>
                </a:schemeClr>
              </a:solidFill>
              <a:latin typeface="Montserrat" panose="00000500000000000000" pitchFamily="2" charset="-18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CCDFE3-CBAA-BC4E-5606-0BE3BBEC4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765" y="2347357"/>
            <a:ext cx="3428022" cy="31020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804CF91-D778-9069-2AFA-02700408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44" y="3234512"/>
            <a:ext cx="2360428" cy="132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8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22;p34">
            <a:extLst>
              <a:ext uri="{FF2B5EF4-FFF2-40B4-BE49-F238E27FC236}">
                <a16:creationId xmlns:a16="http://schemas.microsoft.com/office/drawing/2014/main" id="{F6ABE8C2-3DF6-5A2E-AEE4-BB2DCB4A7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8890" y="2352973"/>
            <a:ext cx="4462500" cy="14690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4700"/>
              <a:t>UML dijagrami</a:t>
            </a:r>
            <a:endParaRPr sz="4700"/>
          </a:p>
        </p:txBody>
      </p:sp>
      <p:sp>
        <p:nvSpPr>
          <p:cNvPr id="25" name="Google Shape;224;p34">
            <a:extLst>
              <a:ext uri="{FF2B5EF4-FFF2-40B4-BE49-F238E27FC236}">
                <a16:creationId xmlns:a16="http://schemas.microsoft.com/office/drawing/2014/main" id="{502A014C-F160-1F9C-95F7-5A4983FB5435}"/>
              </a:ext>
            </a:extLst>
          </p:cNvPr>
          <p:cNvSpPr txBox="1">
            <a:spLocks/>
          </p:cNvSpPr>
          <p:nvPr/>
        </p:nvSpPr>
        <p:spPr>
          <a:xfrm>
            <a:off x="538890" y="1103518"/>
            <a:ext cx="1458441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" sz="7200" b="1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-18"/>
              </a:rPr>
              <a:t>0</a:t>
            </a:r>
            <a:r>
              <a:rPr lang="hr-HR" sz="7200" b="1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-18"/>
              </a:rPr>
              <a:t>4</a:t>
            </a:r>
            <a:endParaRPr lang="en" sz="7200" b="1">
              <a:solidFill>
                <a:schemeClr val="accent3">
                  <a:lumMod val="75000"/>
                </a:schemeClr>
              </a:solidFill>
              <a:latin typeface="Montserrat" panose="00000500000000000000" pitchFamily="2" charset="-1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A227E-D3A5-928C-8446-6561BE219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97" y="568627"/>
            <a:ext cx="2452577" cy="178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19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USE CASE DIJAGRAM</a:t>
            </a:r>
          </a:p>
        </p:txBody>
      </p:sp>
    </p:spTree>
    <p:extLst>
      <p:ext uri="{BB962C8B-B14F-4D97-AF65-F5344CB8AC3E}">
        <p14:creationId xmlns:p14="http://schemas.microsoft.com/office/powerpoint/2010/main" val="2048591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68" y="0"/>
            <a:ext cx="68116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99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DOMAIN MODEL</a:t>
            </a:r>
          </a:p>
        </p:txBody>
      </p:sp>
    </p:spTree>
    <p:extLst>
      <p:ext uri="{BB962C8B-B14F-4D97-AF65-F5344CB8AC3E}">
        <p14:creationId xmlns:p14="http://schemas.microsoft.com/office/powerpoint/2010/main" val="411724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53834"/>
            <a:ext cx="9144000" cy="383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3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KLASNI DIJAGRAM</a:t>
            </a:r>
          </a:p>
          <a:p>
            <a:pPr marL="114300" indent="0">
              <a:buNone/>
            </a:pPr>
            <a:endParaRPr lang="bs-Latn-BA"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900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58745" y="130560"/>
            <a:ext cx="5226510" cy="488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208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SEKVENCIJALNI DIJAGRAM (1)</a:t>
            </a:r>
          </a:p>
          <a:p>
            <a:pPr marL="114300" indent="0">
              <a:buNone/>
            </a:pPr>
            <a:endParaRPr lang="bs-Latn-BA"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43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4533" y="301802"/>
            <a:ext cx="8614933" cy="453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469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SEKVENCIJALNI DIJAGRAM (2)</a:t>
            </a:r>
          </a:p>
          <a:p>
            <a:pPr marL="114300" indent="0">
              <a:buNone/>
            </a:pPr>
            <a:endParaRPr lang="bs-Latn-BA"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71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1236" y="457252"/>
            <a:ext cx="8121527" cy="422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553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425" y="2571725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SEKVENCIJALNI DIJAGRAM (3)</a:t>
            </a:r>
          </a:p>
          <a:p>
            <a:pPr marL="114300" indent="0">
              <a:buNone/>
            </a:pPr>
            <a:endParaRPr lang="bs-Latn-BA"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796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8500" y="624713"/>
            <a:ext cx="7346999" cy="38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27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07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546" y="2571750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DIJAGRAM AKTIVNOSTI</a:t>
            </a:r>
          </a:p>
          <a:p>
            <a:pPr marL="114300" indent="0">
              <a:buNone/>
            </a:pPr>
            <a:endParaRPr lang="bs-Latn-BA" sz="44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213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77026" y="182627"/>
            <a:ext cx="5189947" cy="477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42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08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546" y="2571750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ER DIJAGRAM</a:t>
            </a:r>
          </a:p>
        </p:txBody>
      </p:sp>
    </p:spTree>
    <p:extLst>
      <p:ext uri="{BB962C8B-B14F-4D97-AF65-F5344CB8AC3E}">
        <p14:creationId xmlns:p14="http://schemas.microsoft.com/office/powerpoint/2010/main" val="3964608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76848" y="71066"/>
            <a:ext cx="5990304" cy="50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094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09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546" y="2571750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DIJAGRAM RASPOREĐIVANJA</a:t>
            </a:r>
          </a:p>
        </p:txBody>
      </p:sp>
    </p:spTree>
    <p:extLst>
      <p:ext uri="{BB962C8B-B14F-4D97-AF65-F5344CB8AC3E}">
        <p14:creationId xmlns:p14="http://schemas.microsoft.com/office/powerpoint/2010/main" val="57990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73" y="1394114"/>
            <a:ext cx="9133527" cy="235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83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10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546" y="2571750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KOMUNIKACIONI DIJAGRAM</a:t>
            </a:r>
          </a:p>
        </p:txBody>
      </p:sp>
    </p:spTree>
    <p:extLst>
      <p:ext uri="{BB962C8B-B14F-4D97-AF65-F5344CB8AC3E}">
        <p14:creationId xmlns:p14="http://schemas.microsoft.com/office/powerpoint/2010/main" val="3055965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36100" y="609814"/>
            <a:ext cx="6671800" cy="392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14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BB50EB-47B0-F153-E9E6-C28ED20F9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914250"/>
            <a:ext cx="7717500" cy="1657500"/>
          </a:xfrm>
        </p:spPr>
        <p:txBody>
          <a:bodyPr/>
          <a:lstStyle/>
          <a:p>
            <a:r>
              <a:rPr lang="bs-Latn-BA"/>
              <a:t>11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687A7A-8622-F4B8-13C8-9942F424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546" y="2571750"/>
            <a:ext cx="7717500" cy="661500"/>
          </a:xfrm>
        </p:spPr>
        <p:txBody>
          <a:bodyPr/>
          <a:lstStyle/>
          <a:p>
            <a:pPr marL="114300" indent="0">
              <a:buNone/>
            </a:pPr>
            <a:r>
              <a:rPr lang="bs-Latn-BA" sz="4400" b="1">
                <a:solidFill>
                  <a:schemeClr val="accent5"/>
                </a:solidFill>
              </a:rPr>
              <a:t>DIJAGRAM STANJA</a:t>
            </a:r>
          </a:p>
        </p:txBody>
      </p:sp>
    </p:spTree>
    <p:extLst>
      <p:ext uri="{BB962C8B-B14F-4D97-AF65-F5344CB8AC3E}">
        <p14:creationId xmlns:p14="http://schemas.microsoft.com/office/powerpoint/2010/main" val="1364989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A14BA9-E940-441E-614B-33E8A72E3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7671" y="296402"/>
            <a:ext cx="8668658" cy="455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934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7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/>
              <a:t>Hvala na pažnji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238</Words>
  <Application>Microsoft Office PowerPoint</Application>
  <PresentationFormat>On-screen Show (16:9)</PresentationFormat>
  <Paragraphs>58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Montserrat</vt:lpstr>
      <vt:lpstr>Management Consulting Toolkit by Slidesgo</vt:lpstr>
      <vt:lpstr>BARBERSHOP POLITEHNIKA</vt:lpstr>
      <vt:lpstr>Funkcionalni zahtjevi</vt:lpstr>
      <vt:lpstr>PowerPoint Presentation</vt:lpstr>
      <vt:lpstr>Admin funkcionalnosti </vt:lpstr>
      <vt:lpstr>Nefunkcionalni zahtjevi</vt:lpstr>
      <vt:lpstr>PowerPoint Presentation</vt:lpstr>
      <vt:lpstr>Korišteni alati</vt:lpstr>
      <vt:lpstr>UML dijagrami</vt:lpstr>
      <vt:lpstr>01</vt:lpstr>
      <vt:lpstr>PowerPoint Presentation</vt:lpstr>
      <vt:lpstr>02</vt:lpstr>
      <vt:lpstr>PowerPoint Presentation</vt:lpstr>
      <vt:lpstr>03</vt:lpstr>
      <vt:lpstr>PowerPoint Presentation</vt:lpstr>
      <vt:lpstr>04</vt:lpstr>
      <vt:lpstr>PowerPoint Presentation</vt:lpstr>
      <vt:lpstr>05</vt:lpstr>
      <vt:lpstr>PowerPoint Presentation</vt:lpstr>
      <vt:lpstr>06</vt:lpstr>
      <vt:lpstr>PowerPoint Presentation</vt:lpstr>
      <vt:lpstr>07</vt:lpstr>
      <vt:lpstr>PowerPoint Presentation</vt:lpstr>
      <vt:lpstr>08</vt:lpstr>
      <vt:lpstr>PowerPoint Presentation</vt:lpstr>
      <vt:lpstr>09</vt:lpstr>
      <vt:lpstr>PowerPoint Presentation</vt:lpstr>
      <vt:lpstr>10</vt:lpstr>
      <vt:lpstr>PowerPoint Presentation</vt:lpstr>
      <vt:lpstr>11</vt:lpstr>
      <vt:lpstr>PowerPoint Presentation</vt:lpstr>
      <vt:lpstr>Hvala na pažnji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samedinho</dc:creator>
  <cp:lastModifiedBy>DT User</cp:lastModifiedBy>
  <cp:revision>3</cp:revision>
  <dcterms:modified xsi:type="dcterms:W3CDTF">2025-06-17T22:28:53Z</dcterms:modified>
</cp:coreProperties>
</file>